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1pPr>
    <a:lvl2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2pPr>
    <a:lvl3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3pPr>
    <a:lvl4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4pPr>
    <a:lvl5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5pPr>
    <a:lvl6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6pPr>
    <a:lvl7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7pPr>
    <a:lvl8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8pPr>
    <a:lvl9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5900" u="none" kumimoji="0" normalizeH="0">
        <a:ln>
          <a:noFill/>
        </a:ln>
        <a:solidFill>
          <a:srgbClr val="FFFFFF"/>
        </a:solidFill>
        <a:effectLst/>
        <a:uFillTx/>
        <a:latin typeface="Raleway"/>
        <a:ea typeface="Raleway"/>
        <a:cs typeface="Raleway"/>
        <a:sym typeface="Raleway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40;p13"/>
          <p:cNvSpPr txBox="1"/>
          <p:nvPr>
            <p:ph type="body" sz="quarter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lnSpc>
                <a:spcPct val="120000"/>
              </a:lnSpc>
              <a:spcBef>
                <a:spcPts val="500"/>
              </a:spcBef>
              <a:buSzPts val="2800"/>
              <a:defRPr b="1" sz="2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7;p14"/>
          <p:cNvSpPr txBox="1"/>
          <p:nvPr>
            <p:ph type="body" sz="quarter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lnSpc>
                <a:spcPct val="120000"/>
              </a:lnSpc>
              <a:spcBef>
                <a:spcPts val="400"/>
              </a:spcBef>
              <a:buSzPts val="2400"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sp>
        <p:nvSpPr>
          <p:cNvPr id="58" name="Google Shape;48;p14"/>
          <p:cNvSpPr txBox="1"/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lnSpc>
                <a:spcPct val="120000"/>
              </a:lnSpc>
              <a:spcBef>
                <a:spcPts val="400"/>
              </a:spcBef>
              <a:buClrTx/>
              <a:buSzTx/>
              <a:buFontTx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sp>
        <p:nvSpPr>
          <p:cNvPr id="59" name="Google Shape;49;p14"/>
          <p:cNvSpPr txBox="1"/>
          <p:nvPr>
            <p:ph type="body" sz="quarter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lnSpc>
                <a:spcPct val="120000"/>
              </a:lnSpc>
              <a:spcBef>
                <a:spcPts val="400"/>
              </a:spcBef>
              <a:buSzPts val="2400"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16"/>
          <p:cNvSpPr txBox="1"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lnSpc>
                <a:spcPct val="120000"/>
              </a:lnSpc>
              <a:spcBef>
                <a:spcPts val="200"/>
              </a:spcBef>
              <a:buClrTx/>
              <a:buSzTx/>
              <a:buFontTx/>
              <a:buNone/>
              <a:defRPr b="1" sz="5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7;p17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sz="quarter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lnSpc>
                <a:spcPct val="100000"/>
              </a:lnSpc>
              <a:defRPr b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jpe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92;p1"/>
          <p:cNvGrpSpPr/>
          <p:nvPr/>
        </p:nvGrpSpPr>
        <p:grpSpPr>
          <a:xfrm>
            <a:off x="-9525" y="-9525"/>
            <a:ext cx="18482215" cy="10306051"/>
            <a:chOff x="0" y="0"/>
            <a:chExt cx="18482214" cy="10306050"/>
          </a:xfrm>
        </p:grpSpPr>
        <p:sp>
          <p:nvSpPr>
            <p:cNvPr id="115" name="Google Shape;93;p1"/>
            <p:cNvSpPr/>
            <p:nvPr/>
          </p:nvSpPr>
          <p:spPr>
            <a:xfrm>
              <a:off x="9525" y="9525"/>
              <a:ext cx="18463165" cy="1028700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16" name="Google Shape;94;p1"/>
            <p:cNvSpPr/>
            <p:nvPr/>
          </p:nvSpPr>
          <p:spPr>
            <a:xfrm>
              <a:off x="0" y="0"/>
              <a:ext cx="18482216" cy="10306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" y="0"/>
                  </a:moveTo>
                  <a:lnTo>
                    <a:pt x="21589" y="0"/>
                  </a:lnTo>
                  <a:cubicBezTo>
                    <a:pt x="21595" y="0"/>
                    <a:pt x="21600" y="9"/>
                    <a:pt x="21600" y="20"/>
                  </a:cubicBezTo>
                  <a:lnTo>
                    <a:pt x="21600" y="21580"/>
                  </a:lnTo>
                  <a:cubicBezTo>
                    <a:pt x="21600" y="21591"/>
                    <a:pt x="21595" y="21600"/>
                    <a:pt x="21589" y="21600"/>
                  </a:cubicBezTo>
                  <a:lnTo>
                    <a:pt x="11" y="21600"/>
                  </a:lnTo>
                  <a:cubicBezTo>
                    <a:pt x="5" y="21600"/>
                    <a:pt x="0" y="21591"/>
                    <a:pt x="0" y="21580"/>
                  </a:cubicBezTo>
                  <a:lnTo>
                    <a:pt x="0" y="20"/>
                  </a:lnTo>
                  <a:cubicBezTo>
                    <a:pt x="0" y="9"/>
                    <a:pt x="5" y="0"/>
                    <a:pt x="11" y="0"/>
                  </a:cubicBezTo>
                  <a:moveTo>
                    <a:pt x="11" y="40"/>
                  </a:moveTo>
                  <a:lnTo>
                    <a:pt x="11" y="20"/>
                  </a:lnTo>
                  <a:lnTo>
                    <a:pt x="22" y="20"/>
                  </a:lnTo>
                  <a:lnTo>
                    <a:pt x="22" y="21580"/>
                  </a:lnTo>
                  <a:lnTo>
                    <a:pt x="11" y="21580"/>
                  </a:lnTo>
                  <a:lnTo>
                    <a:pt x="11" y="21560"/>
                  </a:lnTo>
                  <a:lnTo>
                    <a:pt x="21589" y="21560"/>
                  </a:lnTo>
                  <a:lnTo>
                    <a:pt x="21589" y="21580"/>
                  </a:lnTo>
                  <a:lnTo>
                    <a:pt x="21578" y="21580"/>
                  </a:lnTo>
                  <a:lnTo>
                    <a:pt x="21578" y="20"/>
                  </a:lnTo>
                  <a:lnTo>
                    <a:pt x="21589" y="20"/>
                  </a:lnTo>
                  <a:lnTo>
                    <a:pt x="21589" y="40"/>
                  </a:lnTo>
                  <a:lnTo>
                    <a:pt x="11" y="40"/>
                  </a:lnTo>
                  <a:close/>
                </a:path>
              </a:pathLst>
            </a:custGeom>
            <a:solidFill>
              <a:srgbClr val="1F497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18" name="Google Shape;95;p1"/>
          <p:cNvSpPr/>
          <p:nvPr/>
        </p:nvSpPr>
        <p:spPr>
          <a:xfrm>
            <a:off x="-1" y="0"/>
            <a:ext cx="18463202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19" name="Google Shape;96;p1"/>
          <p:cNvSpPr txBox="1"/>
          <p:nvPr/>
        </p:nvSpPr>
        <p:spPr>
          <a:xfrm>
            <a:off x="9989042" y="5317168"/>
            <a:ext cx="7721401" cy="1599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7977"/>
              </a:lnSpc>
              <a:defRPr sz="3900">
                <a:latin typeface="Montserrat"/>
                <a:ea typeface="Montserrat"/>
                <a:cs typeface="Montserrat"/>
                <a:sym typeface="Montserrat"/>
              </a:defRPr>
            </a:pPr>
            <a:r>
              <a:t>Team Name:</a:t>
            </a:r>
          </a:p>
          <a:p>
            <a:pPr>
              <a:lnSpc>
                <a:spcPct val="167977"/>
              </a:lnSpc>
              <a:defRPr sz="3900">
                <a:latin typeface="Montserrat"/>
                <a:ea typeface="Montserrat"/>
                <a:cs typeface="Montserrat"/>
                <a:sym typeface="Montserrat"/>
              </a:defRPr>
            </a:pPr>
            <a:r>
              <a:t>MindSpark</a:t>
            </a:r>
          </a:p>
        </p:txBody>
      </p:sp>
      <p:sp>
        <p:nvSpPr>
          <p:cNvPr id="120" name="Google Shape;97;p1"/>
          <p:cNvSpPr txBox="1"/>
          <p:nvPr/>
        </p:nvSpPr>
        <p:spPr>
          <a:xfrm>
            <a:off x="774349" y="2297484"/>
            <a:ext cx="18226252" cy="1831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  <a:r>
              <a:rPr sz="3600"/>
              <a:t>Project Title:</a:t>
            </a:r>
            <a:endParaRPr sz="3600"/>
          </a:p>
          <a:p>
            <a:pPr>
              <a:defRPr sz="3400"/>
            </a:pPr>
            <a:r>
              <a:rPr sz="3600"/>
              <a:t>EARLY IDENTIFICATION OF FUNDAMENTAL LEARNING GAPS</a:t>
            </a:r>
          </a:p>
        </p:txBody>
      </p:sp>
      <p:pic>
        <p:nvPicPr>
          <p:cNvPr id="121" name="logo.pngGoogle Shape;98;p1" descr="logo.pngGoogle Shape;98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8992924"/>
            <a:ext cx="3119527" cy="1294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07;p2"/>
          <p:cNvSpPr/>
          <p:nvPr/>
        </p:nvSpPr>
        <p:spPr>
          <a:xfrm>
            <a:off x="0" y="-325488"/>
            <a:ext cx="18288000" cy="73360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4" name="Google Shape;108;p2"/>
          <p:cNvSpPr/>
          <p:nvPr/>
        </p:nvSpPr>
        <p:spPr>
          <a:xfrm>
            <a:off x="0" y="0"/>
            <a:ext cx="18288000" cy="701059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5" name="Google Shape;109;p2"/>
          <p:cNvSpPr/>
          <p:nvPr/>
        </p:nvSpPr>
        <p:spPr>
          <a:xfrm>
            <a:off x="257434" y="94170"/>
            <a:ext cx="16688939" cy="90213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26" name="Google Shape;110;p2"/>
          <p:cNvSpPr txBox="1"/>
          <p:nvPr/>
        </p:nvSpPr>
        <p:spPr>
          <a:xfrm>
            <a:off x="1332742" y="2715042"/>
            <a:ext cx="15194551" cy="1643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5200"/>
            </a:pPr>
            <a:r>
              <a:t>Problem Statement:</a:t>
            </a:r>
          </a:p>
          <a:p>
            <a:pPr>
              <a:defRPr sz="4600">
                <a:solidFill>
                  <a:srgbClr val="090909"/>
                </a:solidFill>
              </a:defRPr>
            </a:pPr>
            <a:r>
              <a:t>Early Identification 0f Fundamental Learning Gaps</a:t>
            </a:r>
          </a:p>
        </p:txBody>
      </p:sp>
      <p:sp>
        <p:nvSpPr>
          <p:cNvPr id="127" name="Google Shape;111;p2"/>
          <p:cNvSpPr txBox="1"/>
          <p:nvPr/>
        </p:nvSpPr>
        <p:spPr>
          <a:xfrm>
            <a:off x="1311392" y="4606025"/>
            <a:ext cx="14062950" cy="3658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38017"/>
              </a:lnSpc>
              <a:defRPr sz="2500">
                <a:latin typeface="Lato"/>
                <a:ea typeface="Lato"/>
                <a:cs typeface="Lato"/>
                <a:sym typeface="Lato"/>
              </a:defRPr>
            </a:pPr>
            <a:r>
              <a:t>Detailed Problem Statement:</a:t>
            </a:r>
          </a:p>
          <a:p>
            <a:pPr algn="just">
              <a:lnSpc>
                <a:spcPct val="138017"/>
              </a:lnSpc>
              <a:defRPr sz="2500">
                <a:solidFill>
                  <a:srgbClr val="232323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sz="3600"/>
              <a:t>. </a:t>
            </a:r>
            <a:r>
              <a:t>Many students move to higher academic levels without fully understanding basic concepts</a:t>
            </a:r>
          </a:p>
          <a:p>
            <a:pPr algn="just">
              <a:lnSpc>
                <a:spcPct val="138017"/>
              </a:lnSpc>
              <a:defRPr sz="2500">
                <a:solidFill>
                  <a:srgbClr val="232323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sz="3500"/>
              <a:t>. </a:t>
            </a:r>
            <a:r>
              <a:t>These learning gaps remain unnoticed and grow over time, leading to poor performance and dropouts.</a:t>
            </a:r>
          </a:p>
          <a:p>
            <a:pPr algn="just">
              <a:lnSpc>
                <a:spcPct val="138017"/>
              </a:lnSpc>
              <a:defRPr sz="2500">
                <a:solidFill>
                  <a:srgbClr val="232323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sz="3500"/>
              <a:t>. </a:t>
            </a:r>
            <a:r>
              <a:t>There is no effective system to identify these gaps early.</a:t>
            </a:r>
          </a:p>
        </p:txBody>
      </p:sp>
      <p:pic>
        <p:nvPicPr>
          <p:cNvPr id="128" name="logo.pngGoogle Shape;112;p2" descr="logo.pngGoogle Shape;112;p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625349" y="959950"/>
            <a:ext cx="3119527" cy="1294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21;p3"/>
          <p:cNvSpPr txBox="1"/>
          <p:nvPr/>
        </p:nvSpPr>
        <p:spPr>
          <a:xfrm>
            <a:off x="1369800" y="1075199"/>
            <a:ext cx="7774200" cy="604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5200">
                <a:solidFill>
                  <a:srgbClr val="1A1A1A"/>
                </a:solidFill>
              </a:defRPr>
            </a:pPr>
            <a:r>
              <a:t>Solution:</a:t>
            </a:r>
          </a:p>
          <a:p>
            <a:pPr>
              <a:defRPr sz="4100">
                <a:solidFill>
                  <a:srgbClr val="1A1A1A"/>
                </a:solidFill>
              </a:defRPr>
            </a:pPr>
            <a:r>
              <a:t>We propose a web-based EdTech application that conducts concept-based assessments to identify foundational learning gaps early and provide clear feedback for improvement.</a:t>
            </a:r>
          </a:p>
        </p:txBody>
      </p:sp>
      <p:pic>
        <p:nvPicPr>
          <p:cNvPr id="131" name="logo.pngGoogle Shape;122;p3" descr="logo.pngGoogle Shape;122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31300" y="591050"/>
            <a:ext cx="3119527" cy="1294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1;p4"/>
          <p:cNvSpPr/>
          <p:nvPr/>
        </p:nvSpPr>
        <p:spPr>
          <a:xfrm>
            <a:off x="-1478938" y="-371697"/>
            <a:ext cx="18287637" cy="733593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4" name="Google Shape;132;p4"/>
          <p:cNvSpPr/>
          <p:nvPr/>
        </p:nvSpPr>
        <p:spPr>
          <a:xfrm>
            <a:off x="-1478938" y="-46217"/>
            <a:ext cx="18288001" cy="701059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5" name="Google Shape;133;p4"/>
          <p:cNvSpPr/>
          <p:nvPr/>
        </p:nvSpPr>
        <p:spPr>
          <a:xfrm>
            <a:off x="-233119" y="167997"/>
            <a:ext cx="16689888" cy="902131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36" name="Google Shape;134;p4"/>
          <p:cNvSpPr txBox="1"/>
          <p:nvPr/>
        </p:nvSpPr>
        <p:spPr>
          <a:xfrm>
            <a:off x="1053571" y="1741771"/>
            <a:ext cx="15194551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5200"/>
            </a:lvl1pPr>
          </a:lstStyle>
          <a:p>
            <a:pPr/>
            <a:r>
              <a:t>Dependencies and Showstopper</a:t>
            </a:r>
          </a:p>
        </p:txBody>
      </p:sp>
      <p:grpSp>
        <p:nvGrpSpPr>
          <p:cNvPr id="139" name="Google Shape;135;p4"/>
          <p:cNvGrpSpPr/>
          <p:nvPr/>
        </p:nvGrpSpPr>
        <p:grpSpPr>
          <a:xfrm>
            <a:off x="1781034" y="3740249"/>
            <a:ext cx="657607" cy="657608"/>
            <a:chOff x="0" y="0"/>
            <a:chExt cx="657606" cy="657606"/>
          </a:xfrm>
        </p:grpSpPr>
        <p:sp>
          <p:nvSpPr>
            <p:cNvPr id="137" name="Google Shape;136;p4"/>
            <p:cNvSpPr/>
            <p:nvPr/>
          </p:nvSpPr>
          <p:spPr>
            <a:xfrm>
              <a:off x="0" y="0"/>
              <a:ext cx="657607" cy="657607"/>
            </a:xfrm>
            <a:prstGeom prst="ellipse">
              <a:avLst/>
            </a:prstGeom>
            <a:solidFill>
              <a:srgbClr val="F6466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38" name="Google Shape;137;p4"/>
            <p:cNvSpPr txBox="1"/>
            <p:nvPr/>
          </p:nvSpPr>
          <p:spPr>
            <a:xfrm>
              <a:off x="3" y="167026"/>
              <a:ext cx="657600" cy="3235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42" name="Google Shape;138;p4"/>
          <p:cNvGrpSpPr/>
          <p:nvPr/>
        </p:nvGrpSpPr>
        <p:grpSpPr>
          <a:xfrm>
            <a:off x="1781034" y="6185049"/>
            <a:ext cx="657607" cy="657608"/>
            <a:chOff x="0" y="0"/>
            <a:chExt cx="657606" cy="657606"/>
          </a:xfrm>
        </p:grpSpPr>
        <p:sp>
          <p:nvSpPr>
            <p:cNvPr id="140" name="Google Shape;139;p4"/>
            <p:cNvSpPr/>
            <p:nvPr/>
          </p:nvSpPr>
          <p:spPr>
            <a:xfrm>
              <a:off x="0" y="0"/>
              <a:ext cx="657607" cy="657607"/>
            </a:xfrm>
            <a:prstGeom prst="ellipse">
              <a:avLst/>
            </a:prstGeom>
            <a:solidFill>
              <a:srgbClr val="F6466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41" name="Google Shape;140;p4"/>
            <p:cNvSpPr txBox="1"/>
            <p:nvPr/>
          </p:nvSpPr>
          <p:spPr>
            <a:xfrm>
              <a:off x="0" y="152736"/>
              <a:ext cx="657600" cy="3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5" name="Google Shape;141;p4"/>
          <p:cNvGrpSpPr/>
          <p:nvPr/>
        </p:nvGrpSpPr>
        <p:grpSpPr>
          <a:xfrm>
            <a:off x="8822149" y="3724844"/>
            <a:ext cx="657607" cy="657607"/>
            <a:chOff x="0" y="0"/>
            <a:chExt cx="657606" cy="657606"/>
          </a:xfrm>
        </p:grpSpPr>
        <p:sp>
          <p:nvSpPr>
            <p:cNvPr id="143" name="Google Shape;142;p4"/>
            <p:cNvSpPr/>
            <p:nvPr/>
          </p:nvSpPr>
          <p:spPr>
            <a:xfrm>
              <a:off x="0" y="0"/>
              <a:ext cx="657607" cy="657607"/>
            </a:xfrm>
            <a:prstGeom prst="ellipse">
              <a:avLst/>
            </a:prstGeom>
            <a:solidFill>
              <a:srgbClr val="F6466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44" name="Google Shape;143;p4"/>
            <p:cNvSpPr txBox="1"/>
            <p:nvPr/>
          </p:nvSpPr>
          <p:spPr>
            <a:xfrm>
              <a:off x="0" y="152736"/>
              <a:ext cx="657600" cy="3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48" name="Google Shape;144;p4"/>
          <p:cNvGrpSpPr/>
          <p:nvPr/>
        </p:nvGrpSpPr>
        <p:grpSpPr>
          <a:xfrm>
            <a:off x="8822149" y="6185049"/>
            <a:ext cx="657607" cy="657608"/>
            <a:chOff x="0" y="0"/>
            <a:chExt cx="657606" cy="657606"/>
          </a:xfrm>
        </p:grpSpPr>
        <p:sp>
          <p:nvSpPr>
            <p:cNvPr id="146" name="Google Shape;145;p4"/>
            <p:cNvSpPr/>
            <p:nvPr/>
          </p:nvSpPr>
          <p:spPr>
            <a:xfrm>
              <a:off x="0" y="0"/>
              <a:ext cx="657607" cy="657607"/>
            </a:xfrm>
            <a:prstGeom prst="ellipse">
              <a:avLst/>
            </a:prstGeom>
            <a:solidFill>
              <a:srgbClr val="F6466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47" name="Google Shape;146;p4"/>
            <p:cNvSpPr txBox="1"/>
            <p:nvPr/>
          </p:nvSpPr>
          <p:spPr>
            <a:xfrm>
              <a:off x="0" y="152736"/>
              <a:ext cx="657600" cy="323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600"/>
              </a:lvl1pPr>
            </a:lstStyle>
            <a:p>
              <a:pPr/>
              <a:r>
                <a:t>4</a:t>
              </a:r>
            </a:p>
          </p:txBody>
        </p:sp>
      </p:grpSp>
      <p:pic>
        <p:nvPicPr>
          <p:cNvPr id="149" name="logo.pngGoogle Shape;147;p4" descr="logo.pngGoogle Shape;147;p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409199" y="802024"/>
            <a:ext cx="3119527" cy="129407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"/>
          <p:cNvSpPr txBox="1"/>
          <p:nvPr/>
        </p:nvSpPr>
        <p:spPr>
          <a:xfrm>
            <a:off x="3606050" y="3532730"/>
            <a:ext cx="127001" cy="198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</a:p>
        </p:txBody>
      </p:sp>
      <p:sp>
        <p:nvSpPr>
          <p:cNvPr id="151" name="Internet access"/>
          <p:cNvSpPr txBox="1"/>
          <p:nvPr/>
        </p:nvSpPr>
        <p:spPr>
          <a:xfrm>
            <a:off x="2668370" y="3770220"/>
            <a:ext cx="4174215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4500"/>
            </a:lvl1pPr>
          </a:lstStyle>
          <a:p>
            <a:pPr/>
            <a:r>
              <a:t>Internet access</a:t>
            </a:r>
          </a:p>
        </p:txBody>
      </p:sp>
      <p:sp>
        <p:nvSpPr>
          <p:cNvPr id="152" name="Basic student input"/>
          <p:cNvSpPr txBox="1"/>
          <p:nvPr/>
        </p:nvSpPr>
        <p:spPr>
          <a:xfrm>
            <a:off x="2680047" y="6170952"/>
            <a:ext cx="5474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4500"/>
            </a:lvl1pPr>
          </a:lstStyle>
          <a:p>
            <a:pPr/>
            <a:r>
              <a:t>Basic student input </a:t>
            </a:r>
          </a:p>
        </p:txBody>
      </p:sp>
      <p:sp>
        <p:nvSpPr>
          <p:cNvPr id="153" name="Limited time for large…"/>
          <p:cNvSpPr txBox="1"/>
          <p:nvPr/>
        </p:nvSpPr>
        <p:spPr>
          <a:xfrm>
            <a:off x="9785039" y="3698006"/>
            <a:ext cx="5982755" cy="2331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4500"/>
            </a:pPr>
            <a:r>
              <a:t> Limited time for large</a:t>
            </a:r>
          </a:p>
          <a:p>
            <a:pPr>
              <a:defRPr sz="4500"/>
            </a:pPr>
            <a:r>
              <a:t> question datasets</a:t>
            </a:r>
          </a:p>
        </p:txBody>
      </p:sp>
      <p:sp>
        <p:nvSpPr>
          <p:cNvPr id="154" name="Accuracy depends on…"/>
          <p:cNvSpPr txBox="1"/>
          <p:nvPr/>
        </p:nvSpPr>
        <p:spPr>
          <a:xfrm>
            <a:off x="9731601" y="6001725"/>
            <a:ext cx="6089632" cy="2331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4500"/>
            </a:pPr>
            <a:r>
              <a:t> Accuracy depends on</a:t>
            </a:r>
          </a:p>
          <a:p>
            <a:pPr>
              <a:defRPr sz="4500"/>
            </a:pPr>
            <a:r>
              <a:t> question quality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2"/>
            <a:ext cx="18288000" cy="1028699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7" name="Google Shape;157;p5"/>
          <p:cNvSpPr/>
          <p:nvPr/>
        </p:nvSpPr>
        <p:spPr>
          <a:xfrm>
            <a:off x="0" y="-2397900"/>
            <a:ext cx="18288000" cy="12692984"/>
          </a:xfrm>
          <a:prstGeom prst="rect">
            <a:avLst/>
          </a:prstGeom>
          <a:solidFill>
            <a:srgbClr val="C7243D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8" name="Google Shape;158;p5"/>
          <p:cNvSpPr txBox="1"/>
          <p:nvPr/>
        </p:nvSpPr>
        <p:spPr>
          <a:xfrm>
            <a:off x="463937" y="395200"/>
            <a:ext cx="14662502" cy="520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4200">
                <a:solidFill>
                  <a:srgbClr val="040404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t>Highlights/Difference between exisiting solution:</a:t>
            </a:r>
          </a:p>
          <a:p>
            <a:pPr>
              <a:defRPr sz="420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defRPr>
            </a:pPr>
          </a:p>
          <a:p>
            <a:pPr>
              <a:defRPr sz="420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t>Existing systems focus only on marks</a:t>
            </a:r>
          </a:p>
          <a:p>
            <a:pPr>
              <a:defRPr sz="420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t>Our solution focuses on concept understanding</a:t>
            </a:r>
          </a:p>
          <a:p>
            <a:pPr>
              <a:defRPr sz="420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t>Identifies learning gaps early, not after failure</a:t>
            </a:r>
          </a:p>
          <a:p>
            <a:pPr>
              <a:defRPr sz="420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t>Provides actionable feedback, not just results</a:t>
            </a:r>
          </a:p>
        </p:txBody>
      </p:sp>
      <p:pic>
        <p:nvPicPr>
          <p:cNvPr id="159" name="logo.pngGoogle Shape;159;p5" descr="logo.pngGoogle Shape;159;p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19949" y="395187"/>
            <a:ext cx="3119527" cy="1294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8;p6"/>
          <p:cNvGrpSpPr/>
          <p:nvPr/>
        </p:nvGrpSpPr>
        <p:grpSpPr>
          <a:xfrm>
            <a:off x="5175" y="19925"/>
            <a:ext cx="18307051" cy="10480642"/>
            <a:chOff x="0" y="0"/>
            <a:chExt cx="18307050" cy="10480640"/>
          </a:xfrm>
        </p:grpSpPr>
        <p:sp>
          <p:nvSpPr>
            <p:cNvPr id="161" name="Google Shape;169;p6"/>
            <p:cNvSpPr/>
            <p:nvPr/>
          </p:nvSpPr>
          <p:spPr>
            <a:xfrm>
              <a:off x="9525" y="9525"/>
              <a:ext cx="18288000" cy="1046159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2" name="Google Shape;170;p6"/>
            <p:cNvSpPr/>
            <p:nvPr/>
          </p:nvSpPr>
          <p:spPr>
            <a:xfrm>
              <a:off x="0" y="0"/>
              <a:ext cx="18307051" cy="10480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" y="0"/>
                  </a:moveTo>
                  <a:lnTo>
                    <a:pt x="21589" y="0"/>
                  </a:lnTo>
                  <a:cubicBezTo>
                    <a:pt x="21595" y="0"/>
                    <a:pt x="21600" y="9"/>
                    <a:pt x="21600" y="20"/>
                  </a:cubicBezTo>
                  <a:lnTo>
                    <a:pt x="21600" y="21580"/>
                  </a:lnTo>
                  <a:cubicBezTo>
                    <a:pt x="21600" y="21591"/>
                    <a:pt x="21595" y="21600"/>
                    <a:pt x="21589" y="21600"/>
                  </a:cubicBezTo>
                  <a:lnTo>
                    <a:pt x="11" y="21600"/>
                  </a:lnTo>
                  <a:cubicBezTo>
                    <a:pt x="5" y="21600"/>
                    <a:pt x="0" y="21591"/>
                    <a:pt x="0" y="21580"/>
                  </a:cubicBezTo>
                  <a:lnTo>
                    <a:pt x="0" y="20"/>
                  </a:lnTo>
                  <a:cubicBezTo>
                    <a:pt x="0" y="9"/>
                    <a:pt x="5" y="0"/>
                    <a:pt x="11" y="0"/>
                  </a:cubicBezTo>
                  <a:moveTo>
                    <a:pt x="11" y="39"/>
                  </a:moveTo>
                  <a:lnTo>
                    <a:pt x="11" y="20"/>
                  </a:lnTo>
                  <a:lnTo>
                    <a:pt x="22" y="20"/>
                  </a:lnTo>
                  <a:lnTo>
                    <a:pt x="22" y="21580"/>
                  </a:lnTo>
                  <a:lnTo>
                    <a:pt x="11" y="21580"/>
                  </a:lnTo>
                  <a:lnTo>
                    <a:pt x="11" y="21561"/>
                  </a:lnTo>
                  <a:lnTo>
                    <a:pt x="21589" y="21561"/>
                  </a:lnTo>
                  <a:lnTo>
                    <a:pt x="21589" y="21580"/>
                  </a:lnTo>
                  <a:lnTo>
                    <a:pt x="21578" y="21580"/>
                  </a:lnTo>
                  <a:lnTo>
                    <a:pt x="21578" y="20"/>
                  </a:lnTo>
                  <a:lnTo>
                    <a:pt x="21589" y="20"/>
                  </a:lnTo>
                  <a:lnTo>
                    <a:pt x="21589" y="39"/>
                  </a:lnTo>
                  <a:lnTo>
                    <a:pt x="11" y="39"/>
                  </a:lnTo>
                  <a:close/>
                </a:path>
              </a:pathLst>
            </a:custGeom>
            <a:solidFill>
              <a:srgbClr val="1F497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lnSpc>
                  <a:spcPct val="100000"/>
                </a:lnSpc>
                <a:defRPr b="0" sz="1400">
                  <a:solidFill>
                    <a:srgbClr val="00000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</p:grpSp>
      <p:sp>
        <p:nvSpPr>
          <p:cNvPr id="164" name="Google Shape;171;p6"/>
          <p:cNvSpPr/>
          <p:nvPr/>
        </p:nvSpPr>
        <p:spPr>
          <a:xfrm>
            <a:off x="37050" y="29450"/>
            <a:ext cx="18288001" cy="1062104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5" name="Google Shape;172;p6"/>
          <p:cNvSpPr/>
          <p:nvPr/>
        </p:nvSpPr>
        <p:spPr>
          <a:xfrm>
            <a:off x="4877485" y="5301350"/>
            <a:ext cx="6204174" cy="421651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6" name="Google Shape;173;p6"/>
          <p:cNvSpPr/>
          <p:nvPr/>
        </p:nvSpPr>
        <p:spPr>
          <a:xfrm>
            <a:off x="719150" y="769149"/>
            <a:ext cx="4787456" cy="4216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69"/>
                </a:moveTo>
                <a:cubicBezTo>
                  <a:pt x="0" y="747"/>
                  <a:pt x="658" y="0"/>
                  <a:pt x="1470" y="0"/>
                </a:cubicBezTo>
                <a:lnTo>
                  <a:pt x="20130" y="0"/>
                </a:lnTo>
                <a:cubicBezTo>
                  <a:pt x="20942" y="0"/>
                  <a:pt x="21600" y="747"/>
                  <a:pt x="21600" y="1669"/>
                </a:cubicBezTo>
                <a:lnTo>
                  <a:pt x="21600" y="19931"/>
                </a:lnTo>
                <a:cubicBezTo>
                  <a:pt x="21600" y="20853"/>
                  <a:pt x="20942" y="21600"/>
                  <a:pt x="20130" y="21600"/>
                </a:cubicBezTo>
                <a:lnTo>
                  <a:pt x="1470" y="21600"/>
                </a:lnTo>
                <a:cubicBezTo>
                  <a:pt x="658" y="21600"/>
                  <a:pt x="0" y="20853"/>
                  <a:pt x="0" y="19931"/>
                </a:cubicBezTo>
                <a:close/>
              </a:path>
            </a:pathLst>
          </a:custGeom>
          <a:solidFill>
            <a:srgbClr val="CB3B4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7" name="Google Shape;174;p6"/>
          <p:cNvSpPr/>
          <p:nvPr/>
        </p:nvSpPr>
        <p:spPr>
          <a:xfrm>
            <a:off x="5790824" y="690250"/>
            <a:ext cx="7086601" cy="4374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69"/>
                </a:moveTo>
                <a:cubicBezTo>
                  <a:pt x="0" y="747"/>
                  <a:pt x="461" y="0"/>
                  <a:pt x="1030" y="0"/>
                </a:cubicBezTo>
                <a:lnTo>
                  <a:pt x="20570" y="0"/>
                </a:lnTo>
                <a:cubicBezTo>
                  <a:pt x="21139" y="0"/>
                  <a:pt x="21600" y="747"/>
                  <a:pt x="21600" y="1669"/>
                </a:cubicBezTo>
                <a:lnTo>
                  <a:pt x="21600" y="19931"/>
                </a:lnTo>
                <a:cubicBezTo>
                  <a:pt x="21600" y="20853"/>
                  <a:pt x="21139" y="21600"/>
                  <a:pt x="20570" y="21600"/>
                </a:cubicBezTo>
                <a:lnTo>
                  <a:pt x="1030" y="21600"/>
                </a:lnTo>
                <a:cubicBezTo>
                  <a:pt x="461" y="21600"/>
                  <a:pt x="0" y="20853"/>
                  <a:pt x="0" y="19931"/>
                </a:cubicBezTo>
                <a:close/>
              </a:path>
            </a:pathLst>
          </a:custGeom>
          <a:solidFill>
            <a:srgbClr val="C7243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8" name="Google Shape;175;p6"/>
          <p:cNvSpPr/>
          <p:nvPr/>
        </p:nvSpPr>
        <p:spPr>
          <a:xfrm>
            <a:off x="622889" y="5260249"/>
            <a:ext cx="4912900" cy="44703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487"/>
                </a:moveTo>
                <a:cubicBezTo>
                  <a:pt x="0" y="665"/>
                  <a:pt x="747" y="0"/>
                  <a:pt x="1669" y="0"/>
                </a:cubicBezTo>
                <a:lnTo>
                  <a:pt x="19931" y="0"/>
                </a:lnTo>
                <a:cubicBezTo>
                  <a:pt x="20853" y="0"/>
                  <a:pt x="21600" y="665"/>
                  <a:pt x="21600" y="1487"/>
                </a:cubicBezTo>
                <a:lnTo>
                  <a:pt x="21600" y="20113"/>
                </a:lnTo>
                <a:cubicBezTo>
                  <a:pt x="21600" y="20935"/>
                  <a:pt x="20853" y="21600"/>
                  <a:pt x="19931" y="21600"/>
                </a:cubicBezTo>
                <a:lnTo>
                  <a:pt x="1669" y="21600"/>
                </a:lnTo>
                <a:cubicBezTo>
                  <a:pt x="747" y="21600"/>
                  <a:pt x="0" y="20934"/>
                  <a:pt x="0" y="20113"/>
                </a:cubicBezTo>
                <a:close/>
              </a:path>
            </a:pathLst>
          </a:custGeom>
          <a:solidFill>
            <a:srgbClr val="C7243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9" name="Google Shape;176;p6"/>
          <p:cNvSpPr/>
          <p:nvPr/>
        </p:nvSpPr>
        <p:spPr>
          <a:xfrm>
            <a:off x="13871680" y="6891219"/>
            <a:ext cx="3896393" cy="1380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224"/>
                </a:moveTo>
                <a:cubicBezTo>
                  <a:pt x="0" y="1443"/>
                  <a:pt x="482" y="0"/>
                  <a:pt x="1077" y="0"/>
                </a:cubicBezTo>
                <a:lnTo>
                  <a:pt x="20523" y="0"/>
                </a:lnTo>
                <a:cubicBezTo>
                  <a:pt x="21118" y="0"/>
                  <a:pt x="21600" y="1443"/>
                  <a:pt x="21600" y="3224"/>
                </a:cubicBezTo>
                <a:lnTo>
                  <a:pt x="21600" y="18376"/>
                </a:lnTo>
                <a:cubicBezTo>
                  <a:pt x="21600" y="20157"/>
                  <a:pt x="21118" y="21600"/>
                  <a:pt x="20523" y="21600"/>
                </a:cubicBezTo>
                <a:lnTo>
                  <a:pt x="1077" y="21600"/>
                </a:lnTo>
                <a:cubicBezTo>
                  <a:pt x="482" y="21600"/>
                  <a:pt x="0" y="20157"/>
                  <a:pt x="0" y="18376"/>
                </a:cubicBezTo>
                <a:close/>
              </a:path>
            </a:pathLst>
          </a:custGeom>
          <a:solidFill>
            <a:srgbClr val="EEECE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70" name="Google Shape;177;p6"/>
          <p:cNvSpPr txBox="1"/>
          <p:nvPr/>
        </p:nvSpPr>
        <p:spPr>
          <a:xfrm>
            <a:off x="14035656" y="7185166"/>
            <a:ext cx="356845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200">
                <a:latin typeface="Arimo"/>
                <a:ea typeface="Arimo"/>
                <a:cs typeface="Arimo"/>
                <a:sym typeface="Arimo"/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171" name="Google Shape;178;p6"/>
          <p:cNvSpPr/>
          <p:nvPr/>
        </p:nvSpPr>
        <p:spPr>
          <a:xfrm>
            <a:off x="13161700" y="769150"/>
            <a:ext cx="4407599" cy="4374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69"/>
                </a:moveTo>
                <a:cubicBezTo>
                  <a:pt x="0" y="747"/>
                  <a:pt x="742" y="0"/>
                  <a:pt x="1657" y="0"/>
                </a:cubicBezTo>
                <a:lnTo>
                  <a:pt x="19943" y="0"/>
                </a:lnTo>
                <a:cubicBezTo>
                  <a:pt x="20858" y="0"/>
                  <a:pt x="21600" y="747"/>
                  <a:pt x="21600" y="1669"/>
                </a:cubicBezTo>
                <a:lnTo>
                  <a:pt x="21600" y="19931"/>
                </a:lnTo>
                <a:cubicBezTo>
                  <a:pt x="21600" y="20853"/>
                  <a:pt x="20858" y="21600"/>
                  <a:pt x="19943" y="21600"/>
                </a:cubicBezTo>
                <a:lnTo>
                  <a:pt x="1657" y="21600"/>
                </a:lnTo>
                <a:cubicBezTo>
                  <a:pt x="742" y="21600"/>
                  <a:pt x="0" y="20853"/>
                  <a:pt x="0" y="19931"/>
                </a:cubicBezTo>
                <a:close/>
              </a:path>
            </a:pathLst>
          </a:custGeom>
          <a:solidFill>
            <a:srgbClr val="C7243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72" name="Google Shape;179;p6"/>
          <p:cNvSpPr txBox="1"/>
          <p:nvPr/>
        </p:nvSpPr>
        <p:spPr>
          <a:xfrm>
            <a:off x="6685181" y="1340180"/>
            <a:ext cx="4385151" cy="162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5"/>
              </a:lnSpc>
              <a:defRPr sz="3300">
                <a:solidFill>
                  <a:srgbClr val="131313"/>
                </a:solidFill>
              </a:defRPr>
            </a:pPr>
            <a:r>
              <a:t>Backend:</a:t>
            </a:r>
          </a:p>
          <a:p>
            <a:pPr algn="ctr">
              <a:lnSpc>
                <a:spcPct val="120005"/>
              </a:lnSpc>
              <a:defRPr sz="3300"/>
            </a:pPr>
            <a:r>
              <a:t>Python (Flask)</a:t>
            </a:r>
          </a:p>
        </p:txBody>
      </p:sp>
      <p:sp>
        <p:nvSpPr>
          <p:cNvPr id="173" name="Google Shape;180;p6"/>
          <p:cNvSpPr/>
          <p:nvPr/>
        </p:nvSpPr>
        <p:spPr>
          <a:xfrm>
            <a:off x="5790824" y="5549669"/>
            <a:ext cx="7086614" cy="42769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69"/>
                </a:moveTo>
                <a:cubicBezTo>
                  <a:pt x="0" y="747"/>
                  <a:pt x="508" y="0"/>
                  <a:pt x="1134" y="0"/>
                </a:cubicBezTo>
                <a:lnTo>
                  <a:pt x="20466" y="0"/>
                </a:lnTo>
                <a:cubicBezTo>
                  <a:pt x="21092" y="0"/>
                  <a:pt x="21600" y="747"/>
                  <a:pt x="21600" y="1669"/>
                </a:cubicBezTo>
                <a:lnTo>
                  <a:pt x="21600" y="19931"/>
                </a:lnTo>
                <a:cubicBezTo>
                  <a:pt x="21600" y="20853"/>
                  <a:pt x="21092" y="21600"/>
                  <a:pt x="20466" y="21600"/>
                </a:cubicBezTo>
                <a:lnTo>
                  <a:pt x="1134" y="21600"/>
                </a:lnTo>
                <a:cubicBezTo>
                  <a:pt x="508" y="21600"/>
                  <a:pt x="0" y="20853"/>
                  <a:pt x="0" y="19931"/>
                </a:cubicBezTo>
                <a:close/>
              </a:path>
            </a:pathLst>
          </a:custGeom>
          <a:solidFill>
            <a:srgbClr val="C7243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74" name="Google Shape;181;p6"/>
          <p:cNvSpPr txBox="1"/>
          <p:nvPr/>
        </p:nvSpPr>
        <p:spPr>
          <a:xfrm>
            <a:off x="6808720" y="6096556"/>
            <a:ext cx="5008996" cy="214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9987"/>
              </a:lnSpc>
              <a:defRPr sz="3200">
                <a:solidFill>
                  <a:srgbClr val="080808"/>
                </a:solidFill>
              </a:defRPr>
            </a:pPr>
            <a:r>
              <a:t>DevOps and Depolyment:</a:t>
            </a:r>
          </a:p>
          <a:p>
            <a:pPr algn="ctr">
              <a:lnSpc>
                <a:spcPct val="119987"/>
              </a:lnSpc>
              <a:defRPr sz="3200"/>
            </a:pPr>
            <a:r>
              <a:t>Localhost / Free cloud deployment</a:t>
            </a:r>
          </a:p>
        </p:txBody>
      </p:sp>
      <p:sp>
        <p:nvSpPr>
          <p:cNvPr id="175" name="Google Shape;182;p6"/>
          <p:cNvSpPr txBox="1"/>
          <p:nvPr/>
        </p:nvSpPr>
        <p:spPr>
          <a:xfrm>
            <a:off x="854545" y="5342082"/>
            <a:ext cx="4449598" cy="3438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5"/>
              </a:lnSpc>
              <a:defRPr sz="3400">
                <a:solidFill>
                  <a:srgbClr val="0C0C0C"/>
                </a:solidFill>
              </a:defRPr>
            </a:pPr>
            <a:r>
              <a:t>AI and Machine Learning:</a:t>
            </a:r>
          </a:p>
          <a:p>
            <a:pPr algn="ctr">
              <a:lnSpc>
                <a:spcPct val="120005"/>
              </a:lnSpc>
              <a:defRPr sz="3400"/>
            </a:pPr>
            <a:r>
              <a:t>Rule-based analysis to detect learning gaps</a:t>
            </a:r>
          </a:p>
        </p:txBody>
      </p:sp>
      <p:sp>
        <p:nvSpPr>
          <p:cNvPr id="176" name="Google Shape;183;p6"/>
          <p:cNvSpPr txBox="1"/>
          <p:nvPr/>
        </p:nvSpPr>
        <p:spPr>
          <a:xfrm>
            <a:off x="13598433" y="1380098"/>
            <a:ext cx="3528951" cy="2774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5"/>
              </a:lnSpc>
              <a:defRPr sz="3300">
                <a:solidFill>
                  <a:srgbClr val="070707"/>
                </a:solidFill>
              </a:defRPr>
            </a:pPr>
            <a:r>
              <a:t>APIs &amp; Integrations:</a:t>
            </a:r>
          </a:p>
          <a:p>
            <a:pPr algn="ctr">
              <a:lnSpc>
                <a:spcPct val="120005"/>
              </a:lnSpc>
              <a:defRPr sz="3300"/>
            </a:pPr>
            <a:r>
              <a:t>Internal REST APIs</a:t>
            </a:r>
          </a:p>
        </p:txBody>
      </p:sp>
      <p:sp>
        <p:nvSpPr>
          <p:cNvPr id="177" name="Google Shape;184;p6"/>
          <p:cNvSpPr txBox="1"/>
          <p:nvPr/>
        </p:nvSpPr>
        <p:spPr>
          <a:xfrm>
            <a:off x="1348402" y="1380098"/>
            <a:ext cx="3528952" cy="2198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5"/>
              </a:lnSpc>
              <a:defRPr sz="3300">
                <a:solidFill>
                  <a:srgbClr val="060606"/>
                </a:solidFill>
              </a:defRPr>
            </a:pPr>
            <a:r>
              <a:t>Frontend:</a:t>
            </a:r>
          </a:p>
          <a:p>
            <a:pPr algn="ctr">
              <a:lnSpc>
                <a:spcPct val="120005"/>
              </a:lnSpc>
              <a:defRPr sz="3300"/>
            </a:pPr>
            <a:r>
              <a:t>HTML, CSS, JavaScript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93;p7"/>
          <p:cNvSpPr/>
          <p:nvPr/>
        </p:nvSpPr>
        <p:spPr>
          <a:xfrm>
            <a:off x="-25401" y="0"/>
            <a:ext cx="18288001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defRPr b="0" sz="14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80" name="Google Shape;194;p7"/>
          <p:cNvSpPr txBox="1"/>
          <p:nvPr/>
        </p:nvSpPr>
        <p:spPr>
          <a:xfrm>
            <a:off x="1668485" y="745354"/>
            <a:ext cx="14037150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5200"/>
            </a:lvl1pPr>
          </a:lstStyle>
          <a:p>
            <a:pPr/>
            <a:r>
              <a:t>Team Name: MindSpark</a:t>
            </a:r>
          </a:p>
        </p:txBody>
      </p:sp>
      <p:sp>
        <p:nvSpPr>
          <p:cNvPr id="181" name="Google Shape;195;p7"/>
          <p:cNvSpPr txBox="1"/>
          <p:nvPr/>
        </p:nvSpPr>
        <p:spPr>
          <a:xfrm>
            <a:off x="243014" y="2098248"/>
            <a:ext cx="3032551" cy="82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Name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S.RAMESH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R.VARDHAN REDDY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K.BHARATH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M.RIZWAN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A.UDAY KUMAR REDDY</a:t>
            </a:r>
          </a:p>
          <a:p>
            <a:pPr>
              <a:defRPr sz="2200"/>
            </a:pPr>
          </a:p>
          <a:p>
            <a:pPr>
              <a:defRPr sz="2200"/>
            </a:pPr>
          </a:p>
        </p:txBody>
      </p:sp>
      <p:sp>
        <p:nvSpPr>
          <p:cNvPr id="182" name="Google Shape;196;p7"/>
          <p:cNvSpPr txBox="1"/>
          <p:nvPr/>
        </p:nvSpPr>
        <p:spPr>
          <a:xfrm>
            <a:off x="3929858" y="2150227"/>
            <a:ext cx="3529211" cy="209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College Name</a:t>
            </a:r>
          </a:p>
          <a:p>
            <a:pPr>
              <a:defRPr sz="1900"/>
            </a:pPr>
          </a:p>
          <a:p>
            <a:pPr>
              <a:defRPr sz="1900"/>
            </a:pPr>
          </a:p>
          <a:p>
            <a:pPr>
              <a:defRPr sz="1900"/>
            </a:pPr>
            <a:r>
              <a:t>ANNAMACHARYA INSTITUTE OF TECHNOLOGY&amp;SCIENCES</a:t>
            </a:r>
          </a:p>
        </p:txBody>
      </p:sp>
      <p:sp>
        <p:nvSpPr>
          <p:cNvPr id="183" name="Google Shape;197;p7"/>
          <p:cNvSpPr txBox="1"/>
          <p:nvPr/>
        </p:nvSpPr>
        <p:spPr>
          <a:xfrm>
            <a:off x="8637153" y="2159870"/>
            <a:ext cx="2299351" cy="1518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College Location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Rajampet</a:t>
            </a:r>
          </a:p>
        </p:txBody>
      </p:sp>
      <p:sp>
        <p:nvSpPr>
          <p:cNvPr id="184" name="Google Shape;198;p7"/>
          <p:cNvSpPr txBox="1"/>
          <p:nvPr/>
        </p:nvSpPr>
        <p:spPr>
          <a:xfrm>
            <a:off x="12114587" y="2113653"/>
            <a:ext cx="22995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Position</a:t>
            </a:r>
          </a:p>
        </p:txBody>
      </p:sp>
      <p:sp>
        <p:nvSpPr>
          <p:cNvPr id="185" name="Google Shape;199;p7"/>
          <p:cNvSpPr txBox="1"/>
          <p:nvPr/>
        </p:nvSpPr>
        <p:spPr>
          <a:xfrm>
            <a:off x="14793443" y="2159870"/>
            <a:ext cx="2299351" cy="1518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Gender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MALE</a:t>
            </a:r>
          </a:p>
        </p:txBody>
      </p:sp>
      <p:sp>
        <p:nvSpPr>
          <p:cNvPr id="186" name="Google Shape;200;p7"/>
          <p:cNvSpPr txBox="1"/>
          <p:nvPr/>
        </p:nvSpPr>
        <p:spPr>
          <a:xfrm>
            <a:off x="12114587" y="3419559"/>
            <a:ext cx="2299501" cy="548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200"/>
            </a:pPr>
            <a:r>
              <a:t>Bakend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Web</a:t>
            </a:r>
          </a:p>
          <a:p>
            <a:pPr>
              <a:defRPr sz="2200"/>
            </a:pPr>
            <a:r>
              <a:t>development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Frontend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API</a:t>
            </a: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</a:p>
          <a:p>
            <a:pPr>
              <a:defRPr sz="2200"/>
            </a:pPr>
            <a:r>
              <a:t>AI/ML</a:t>
            </a:r>
          </a:p>
        </p:txBody>
      </p:sp>
      <p:sp>
        <p:nvSpPr>
          <p:cNvPr id="187" name="ANNAMACHARYA INSTITUTE…"/>
          <p:cNvSpPr txBox="1"/>
          <p:nvPr/>
        </p:nvSpPr>
        <p:spPr>
          <a:xfrm>
            <a:off x="3898334" y="4144218"/>
            <a:ext cx="3592259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900"/>
            </a:pPr>
          </a:p>
          <a:p>
            <a:pPr>
              <a:defRPr sz="1900"/>
            </a:pPr>
            <a:r>
              <a:t>ANNAMACHARYA INSTITUTE</a:t>
            </a:r>
          </a:p>
          <a:p>
            <a:pPr>
              <a:defRPr sz="1900"/>
            </a:pPr>
            <a:r>
              <a:t> OF TECHNOLOGY&amp;SCIENCES</a:t>
            </a:r>
          </a:p>
        </p:txBody>
      </p:sp>
      <p:sp>
        <p:nvSpPr>
          <p:cNvPr id="188" name="ANNAMACHARYA INSTITUTE…"/>
          <p:cNvSpPr txBox="1"/>
          <p:nvPr/>
        </p:nvSpPr>
        <p:spPr>
          <a:xfrm>
            <a:off x="3898334" y="5657224"/>
            <a:ext cx="3592259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900"/>
            </a:pPr>
            <a:r>
              <a:t>ANNAMACHARYA INSTITUTE</a:t>
            </a:r>
          </a:p>
          <a:p>
            <a:pPr>
              <a:defRPr sz="1900"/>
            </a:pPr>
            <a:r>
              <a:t> OF TECHNOLOGY&amp;SCIENCES</a:t>
            </a:r>
          </a:p>
        </p:txBody>
      </p:sp>
      <p:sp>
        <p:nvSpPr>
          <p:cNvPr id="189" name="ANNAMACHARYA INSTITUTE…"/>
          <p:cNvSpPr txBox="1"/>
          <p:nvPr/>
        </p:nvSpPr>
        <p:spPr>
          <a:xfrm>
            <a:off x="3898334" y="7047388"/>
            <a:ext cx="3592259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900"/>
            </a:pPr>
            <a:r>
              <a:t>ANNAMACHARYA INSTITUTE</a:t>
            </a:r>
          </a:p>
          <a:p>
            <a:pPr>
              <a:defRPr sz="1900"/>
            </a:pPr>
            <a:r>
              <a:t> OF TECHNOLOGY&amp;SCIENCES</a:t>
            </a:r>
          </a:p>
        </p:txBody>
      </p:sp>
      <p:sp>
        <p:nvSpPr>
          <p:cNvPr id="190" name="ANNAMACHARYA INSTITUTE…"/>
          <p:cNvSpPr txBox="1"/>
          <p:nvPr/>
        </p:nvSpPr>
        <p:spPr>
          <a:xfrm>
            <a:off x="3898334" y="8437552"/>
            <a:ext cx="3592259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1900"/>
            </a:pPr>
            <a:r>
              <a:t>ANNAMACHARYA INSTITUTE</a:t>
            </a:r>
          </a:p>
          <a:p>
            <a:pPr>
              <a:defRPr sz="1900"/>
            </a:pPr>
            <a:r>
              <a:t> OF TECHNOLOGY&amp;SCIENCES</a:t>
            </a:r>
          </a:p>
        </p:txBody>
      </p:sp>
      <p:sp>
        <p:nvSpPr>
          <p:cNvPr id="191" name="Rajampet"/>
          <p:cNvSpPr txBox="1"/>
          <p:nvPr/>
        </p:nvSpPr>
        <p:spPr>
          <a:xfrm>
            <a:off x="8714010" y="4604595"/>
            <a:ext cx="127041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Rajampet</a:t>
            </a:r>
          </a:p>
        </p:txBody>
      </p:sp>
      <p:sp>
        <p:nvSpPr>
          <p:cNvPr id="192" name="Rajampet"/>
          <p:cNvSpPr txBox="1"/>
          <p:nvPr/>
        </p:nvSpPr>
        <p:spPr>
          <a:xfrm>
            <a:off x="8714010" y="5862528"/>
            <a:ext cx="127041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Rajampet</a:t>
            </a:r>
          </a:p>
        </p:txBody>
      </p:sp>
      <p:sp>
        <p:nvSpPr>
          <p:cNvPr id="193" name="Rajampet"/>
          <p:cNvSpPr txBox="1"/>
          <p:nvPr/>
        </p:nvSpPr>
        <p:spPr>
          <a:xfrm>
            <a:off x="8714010" y="6975919"/>
            <a:ext cx="127041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Rajampet</a:t>
            </a:r>
          </a:p>
        </p:txBody>
      </p:sp>
      <p:sp>
        <p:nvSpPr>
          <p:cNvPr id="194" name="Rajampet"/>
          <p:cNvSpPr txBox="1"/>
          <p:nvPr/>
        </p:nvSpPr>
        <p:spPr>
          <a:xfrm>
            <a:off x="8714010" y="8593762"/>
            <a:ext cx="127041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Rajampet</a:t>
            </a:r>
          </a:p>
        </p:txBody>
      </p:sp>
      <p:sp>
        <p:nvSpPr>
          <p:cNvPr id="195" name="MALE"/>
          <p:cNvSpPr txBox="1"/>
          <p:nvPr/>
        </p:nvSpPr>
        <p:spPr>
          <a:xfrm>
            <a:off x="14835864" y="4604595"/>
            <a:ext cx="8042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MALE</a:t>
            </a:r>
          </a:p>
        </p:txBody>
      </p:sp>
      <p:sp>
        <p:nvSpPr>
          <p:cNvPr id="196" name="MALE"/>
          <p:cNvSpPr txBox="1"/>
          <p:nvPr/>
        </p:nvSpPr>
        <p:spPr>
          <a:xfrm>
            <a:off x="14835864" y="5796999"/>
            <a:ext cx="8042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MALE</a:t>
            </a:r>
          </a:p>
        </p:txBody>
      </p:sp>
      <p:sp>
        <p:nvSpPr>
          <p:cNvPr id="197" name="MALE"/>
          <p:cNvSpPr txBox="1"/>
          <p:nvPr/>
        </p:nvSpPr>
        <p:spPr>
          <a:xfrm>
            <a:off x="14835864" y="6975919"/>
            <a:ext cx="8042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MALE</a:t>
            </a:r>
          </a:p>
        </p:txBody>
      </p:sp>
      <p:sp>
        <p:nvSpPr>
          <p:cNvPr id="198" name="MALE"/>
          <p:cNvSpPr txBox="1"/>
          <p:nvPr/>
        </p:nvSpPr>
        <p:spPr>
          <a:xfrm>
            <a:off x="14835864" y="8593762"/>
            <a:ext cx="8042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/>
            </a:lvl1pPr>
          </a:lstStyle>
          <a:p>
            <a:pPr/>
            <a:r>
              <a:t>MALE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FFFFFF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59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Raleway"/>
            <a:ea typeface="Raleway"/>
            <a:cs typeface="Raleway"/>
            <a:sym typeface="Ralew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59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Raleway"/>
            <a:ea typeface="Raleway"/>
            <a:cs typeface="Raleway"/>
            <a:sym typeface="Ralew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